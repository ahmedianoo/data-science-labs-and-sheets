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b9f7be989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b9f7be989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b9f7be989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b9f7be989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b9f7be989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b9f7be989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9f7be989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b9f7be989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9f7be989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b9f7be989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b9f7be9898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b9f7be9898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9f7be989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9f7be989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b9f7be989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b9f7be989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b9f7be9898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b9f7be9898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b9f7be9898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b9f7be9898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9f7be9898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b9f7be9898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9f7be9898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9f7be989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b9f7be9898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b9f7be9898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b9f7be989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b9f7be989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b9f7be9898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b9f7be9898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b9f7be9898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b9f7be989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b9f7be9898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b9f7be9898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9f7be9898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9f7be9898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b9f7be9898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b9f7be9898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b9f7be989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b9f7be989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b9f7be989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b9f7be989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Code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Prepared by eng Hosam Hazem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30000" y="1318650"/>
            <a:ext cx="54903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code do? 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150" y="2226425"/>
            <a:ext cx="6179800" cy="25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30000" y="1318650"/>
            <a:ext cx="47496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code do? 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13" y="2226425"/>
            <a:ext cx="8264176" cy="27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/>
        </p:nvSpPr>
        <p:spPr>
          <a:xfrm>
            <a:off x="212850" y="1444250"/>
            <a:ext cx="8718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Any fool can write code that a computer can understand. Good programmers write code that humans can understand.</a:t>
            </a:r>
            <a:endParaRPr b="1" sz="3100"/>
          </a:p>
        </p:txBody>
      </p:sp>
      <p:sp>
        <p:nvSpPr>
          <p:cNvPr id="105" name="Google Shape;105;p16"/>
          <p:cNvSpPr txBox="1"/>
          <p:nvPr/>
        </p:nvSpPr>
        <p:spPr>
          <a:xfrm>
            <a:off x="3598875" y="3060350"/>
            <a:ext cx="173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Martin Fowler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clean Code 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666000" y="1911950"/>
            <a:ext cx="7815600" cy="31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</a:t>
            </a:r>
            <a:r>
              <a:rPr lang="en" sz="1800"/>
              <a:t>f it is working it does not mean it is clean.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must be readable.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</a:t>
            </a:r>
            <a:r>
              <a:rPr lang="en" sz="1800"/>
              <a:t> are not only a programmer you are an AUTHOR!!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spend majority of our time reading Codes. </a:t>
            </a:r>
            <a:r>
              <a:rPr lang="en" sz="1800"/>
              <a:t>Don't</a:t>
            </a:r>
            <a:r>
              <a:rPr lang="en" sz="1800"/>
              <a:t> we?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Our colleague code, stack overflow,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Our code now,  our code before and our code in the future,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Spending time to make it clean will save a lot more reading it.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" sz="1800" u="sng"/>
              <a:t>It is a grading </a:t>
            </a:r>
            <a:r>
              <a:rPr b="1" i="1" lang="en" sz="1800" u="sng"/>
              <a:t>criteria</a:t>
            </a:r>
            <a:r>
              <a:rPr b="1" i="1" lang="en" sz="1800" u="sng"/>
              <a:t> in our project!!</a:t>
            </a:r>
            <a:endParaRPr b="1" i="1" sz="1800" u="sng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Code Key Points 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 b="35342" l="2598" r="40418" t="18621"/>
          <a:stretch/>
        </p:blipFill>
        <p:spPr>
          <a:xfrm>
            <a:off x="612050" y="1927225"/>
            <a:ext cx="8094577" cy="305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r>
              <a:rPr lang="en"/>
              <a:t> Ex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into groups of 4-6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1259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Names 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2078875"/>
            <a:ext cx="8490900" cy="31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Should be meaningful.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Should be clear but not redundant 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Stay consistent.</a:t>
            </a:r>
            <a:endParaRPr sz="18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612950" y="6141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Names (Nouns) -</a:t>
            </a:r>
            <a:r>
              <a:rPr i="1" lang="en"/>
              <a:t> </a:t>
            </a:r>
            <a:r>
              <a:rPr b="0" i="1" lang="en" sz="1822"/>
              <a:t>Each group should discuss</a:t>
            </a:r>
            <a:endParaRPr b="0" i="1" sz="18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612950" y="2078875"/>
            <a:ext cx="2619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i="1" lang="en" sz="1600">
                <a:solidFill>
                  <a:schemeClr val="dk2"/>
                </a:solidFill>
              </a:rPr>
              <a:t>user object (email, name,age)</a:t>
            </a:r>
            <a:endParaRPr b="1" i="1"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i="1" lang="en" sz="1600">
                <a:solidFill>
                  <a:schemeClr val="dk2"/>
                </a:solidFill>
              </a:rPr>
              <a:t>Array of orders</a:t>
            </a:r>
            <a:endParaRPr b="1" i="1"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i="1" lang="en" sz="1600">
                <a:solidFill>
                  <a:schemeClr val="dk2"/>
                </a:solidFill>
              </a:rPr>
              <a:t>Input validation result</a:t>
            </a:r>
            <a:r>
              <a:rPr b="1" i="1" lang="en" sz="1600">
                <a:solidFill>
                  <a:schemeClr val="dk2"/>
                </a:solidFill>
              </a:rPr>
              <a:t> </a:t>
            </a:r>
            <a:r>
              <a:rPr b="1" i="1" lang="en" sz="1600">
                <a:solidFill>
                  <a:schemeClr val="dk2"/>
                </a:solidFill>
              </a:rPr>
              <a:t> </a:t>
            </a:r>
            <a:endParaRPr b="1" i="1" sz="1600">
              <a:solidFill>
                <a:schemeClr val="dk2"/>
              </a:solidFill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612950" y="1586275"/>
            <a:ext cx="12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b="1" lang="en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tores</a:t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3231950" y="1593925"/>
            <a:ext cx="128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Bad Name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7194850" y="1593925"/>
            <a:ext cx="1494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Good Name 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0" name="Google Shape;140;p21"/>
          <p:cNvSpPr txBox="1"/>
          <p:nvPr>
            <p:ph idx="2" type="body"/>
          </p:nvPr>
        </p:nvSpPr>
        <p:spPr>
          <a:xfrm>
            <a:off x="3114250" y="2078875"/>
            <a:ext cx="1829400" cy="26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AutoNum type="arabicPeriod"/>
            </a:pPr>
            <a:r>
              <a:rPr b="1" i="1" lang="en" sz="1600">
                <a:solidFill>
                  <a:srgbClr val="CC0000"/>
                </a:solidFill>
              </a:rPr>
              <a:t>Us , u </a:t>
            </a:r>
            <a:endParaRPr b="1" i="1" sz="1600">
              <a:solidFill>
                <a:srgbClr val="CC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CC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600"/>
              <a:buAutoNum type="arabicPeriod"/>
            </a:pPr>
            <a:r>
              <a:rPr b="1" i="1" lang="en" sz="1600">
                <a:solidFill>
                  <a:srgbClr val="CC0000"/>
                </a:solidFill>
              </a:rPr>
              <a:t>Ords, list </a:t>
            </a:r>
            <a:endParaRPr b="1" i="1" sz="1600">
              <a:solidFill>
                <a:srgbClr val="CC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CC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600"/>
              <a:buAutoNum type="arabicPeriod"/>
            </a:pPr>
            <a:r>
              <a:rPr b="1" i="1" lang="en" sz="1600">
                <a:solidFill>
                  <a:srgbClr val="CC0000"/>
                </a:solidFill>
              </a:rPr>
              <a:t>V , val </a:t>
            </a:r>
            <a:endParaRPr b="1" i="1" sz="16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5289750" y="1593925"/>
            <a:ext cx="1494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Ok</a:t>
            </a:r>
            <a:r>
              <a:rPr b="1"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Name 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p21"/>
          <p:cNvSpPr txBox="1"/>
          <p:nvPr>
            <p:ph idx="2" type="body"/>
          </p:nvPr>
        </p:nvSpPr>
        <p:spPr>
          <a:xfrm>
            <a:off x="5122500" y="2143200"/>
            <a:ext cx="1829400" cy="26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600"/>
              <a:buAutoNum type="arabicPeriod"/>
            </a:pPr>
            <a:r>
              <a:rPr b="1" i="1" lang="en" sz="1600">
                <a:solidFill>
                  <a:srgbClr val="B45F06"/>
                </a:solidFill>
              </a:rPr>
              <a:t>userData</a:t>
            </a:r>
            <a:endParaRPr b="1" i="1" sz="1600"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B45F06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B45F06"/>
              </a:buClr>
              <a:buSzPts val="1600"/>
              <a:buAutoNum type="arabicPeriod"/>
            </a:pPr>
            <a:r>
              <a:rPr b="1" i="1" lang="en" sz="1600">
                <a:solidFill>
                  <a:srgbClr val="B45F06"/>
                </a:solidFill>
              </a:rPr>
              <a:t>ordersList </a:t>
            </a:r>
            <a:endParaRPr b="1" i="1" sz="1600"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B45F06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B45F06"/>
              </a:buClr>
              <a:buSzPts val="1600"/>
              <a:buAutoNum type="arabicPeriod"/>
            </a:pPr>
            <a:r>
              <a:rPr b="1" i="1" lang="en" sz="1600">
                <a:solidFill>
                  <a:srgbClr val="B45F06"/>
                </a:solidFill>
              </a:rPr>
              <a:t>correct ,valid</a:t>
            </a:r>
            <a:endParaRPr b="1" i="1"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B45F06"/>
              </a:solidFill>
            </a:endParaRPr>
          </a:p>
        </p:txBody>
      </p:sp>
      <p:sp>
        <p:nvSpPr>
          <p:cNvPr id="143" name="Google Shape;143;p21"/>
          <p:cNvSpPr txBox="1"/>
          <p:nvPr>
            <p:ph idx="2" type="body"/>
          </p:nvPr>
        </p:nvSpPr>
        <p:spPr>
          <a:xfrm>
            <a:off x="7027600" y="2143200"/>
            <a:ext cx="1829400" cy="27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00"/>
              <a:buAutoNum type="arabicPeriod"/>
            </a:pPr>
            <a:r>
              <a:rPr b="1" i="1" lang="en" sz="1600">
                <a:solidFill>
                  <a:srgbClr val="38761D"/>
                </a:solidFill>
              </a:rPr>
              <a:t>user</a:t>
            </a:r>
            <a:endParaRPr b="1" i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38761D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600"/>
              <a:buAutoNum type="arabicPeriod"/>
            </a:pPr>
            <a:r>
              <a:rPr b="1" i="1" lang="en" sz="1600">
                <a:solidFill>
                  <a:srgbClr val="38761D"/>
                </a:solidFill>
              </a:rPr>
              <a:t>o</a:t>
            </a:r>
            <a:r>
              <a:rPr b="1" i="1" lang="en" sz="1600">
                <a:solidFill>
                  <a:srgbClr val="38761D"/>
                </a:solidFill>
              </a:rPr>
              <a:t>rders</a:t>
            </a:r>
            <a:endParaRPr b="1" i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38761D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600"/>
              <a:buAutoNum type="arabicPeriod"/>
            </a:pPr>
            <a:r>
              <a:rPr b="1" i="1" lang="en" sz="1600">
                <a:solidFill>
                  <a:srgbClr val="38761D"/>
                </a:solidFill>
              </a:rPr>
              <a:t>isCorrect, isValid</a:t>
            </a:r>
            <a:endParaRPr b="1" i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1389675" y="4438225"/>
            <a:ext cx="39438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612950" y="6141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</a:t>
            </a:r>
            <a:r>
              <a:rPr lang="en"/>
              <a:t> Names (Commands)</a:t>
            </a:r>
            <a:r>
              <a:rPr lang="en"/>
              <a:t> -</a:t>
            </a:r>
            <a:r>
              <a:rPr i="1" lang="en"/>
              <a:t> </a:t>
            </a:r>
            <a:r>
              <a:rPr b="0" i="1" lang="en" sz="1822"/>
              <a:t>Each group should discuss</a:t>
            </a:r>
            <a:endParaRPr b="0" i="1" sz="18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 txBox="1"/>
          <p:nvPr>
            <p:ph idx="2" type="body"/>
          </p:nvPr>
        </p:nvSpPr>
        <p:spPr>
          <a:xfrm>
            <a:off x="612950" y="2078875"/>
            <a:ext cx="2619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i="1" lang="en" sz="1600">
                <a:solidFill>
                  <a:schemeClr val="dk2"/>
                </a:solidFill>
              </a:rPr>
              <a:t>Save user in DB</a:t>
            </a:r>
            <a:endParaRPr b="1" i="1"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i="1" lang="en" sz="1600">
                <a:solidFill>
                  <a:schemeClr val="dk2"/>
                </a:solidFill>
              </a:rPr>
              <a:t>Change</a:t>
            </a:r>
            <a:r>
              <a:rPr b="1" i="1" lang="en" sz="1600">
                <a:solidFill>
                  <a:schemeClr val="dk2"/>
                </a:solidFill>
              </a:rPr>
              <a:t> order </a:t>
            </a:r>
            <a:r>
              <a:rPr b="1" i="1" lang="en" sz="1600">
                <a:solidFill>
                  <a:schemeClr val="dk2"/>
                </a:solidFill>
              </a:rPr>
              <a:t>status</a:t>
            </a:r>
            <a:endParaRPr b="1" i="1"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i="1" lang="en" sz="1600">
                <a:solidFill>
                  <a:schemeClr val="dk2"/>
                </a:solidFill>
              </a:rPr>
              <a:t>Validate input</a:t>
            </a:r>
            <a:endParaRPr b="1" i="1" sz="1600">
              <a:solidFill>
                <a:schemeClr val="dk2"/>
              </a:solidFill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821625" y="1586275"/>
            <a:ext cx="12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does</a:t>
            </a:r>
            <a:endParaRPr b="1" sz="18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3231950" y="1593925"/>
            <a:ext cx="128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Bad Name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7194850" y="1593925"/>
            <a:ext cx="1494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Good Name 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4" name="Google Shape;154;p22"/>
          <p:cNvSpPr txBox="1"/>
          <p:nvPr>
            <p:ph idx="2" type="body"/>
          </p:nvPr>
        </p:nvSpPr>
        <p:spPr>
          <a:xfrm>
            <a:off x="3114250" y="2078875"/>
            <a:ext cx="1829400" cy="26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AutoNum type="arabicPeriod"/>
            </a:pPr>
            <a:r>
              <a:rPr b="1" i="1" lang="en" sz="1600">
                <a:solidFill>
                  <a:srgbClr val="CC0000"/>
                </a:solidFill>
              </a:rPr>
              <a:t>process, handle</a:t>
            </a:r>
            <a:endParaRPr b="1" i="1" sz="1600">
              <a:solidFill>
                <a:srgbClr val="CC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CC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600"/>
              <a:buAutoNum type="arabicPeriod"/>
            </a:pPr>
            <a:r>
              <a:rPr b="1" i="1" lang="en" sz="1600">
                <a:solidFill>
                  <a:srgbClr val="CC0000"/>
                </a:solidFill>
              </a:rPr>
              <a:t>change </a:t>
            </a:r>
            <a:endParaRPr b="1" i="1" sz="1600">
              <a:solidFill>
                <a:srgbClr val="CC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CC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600"/>
              <a:buAutoNum type="arabicPeriod"/>
            </a:pPr>
            <a:r>
              <a:rPr b="1" i="1" lang="en" sz="1600">
                <a:solidFill>
                  <a:srgbClr val="CC0000"/>
                </a:solidFill>
              </a:rPr>
              <a:t>process</a:t>
            </a:r>
            <a:endParaRPr b="1" i="1" sz="160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5289750" y="1593925"/>
            <a:ext cx="1494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Ok Name 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" name="Google Shape;156;p22"/>
          <p:cNvSpPr txBox="1"/>
          <p:nvPr>
            <p:ph idx="2" type="body"/>
          </p:nvPr>
        </p:nvSpPr>
        <p:spPr>
          <a:xfrm>
            <a:off x="5122500" y="2143200"/>
            <a:ext cx="1829400" cy="26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600"/>
              <a:buAutoNum type="arabicPeriod"/>
            </a:pPr>
            <a:r>
              <a:rPr b="1" i="1" lang="en" sz="1600">
                <a:solidFill>
                  <a:srgbClr val="B45F06"/>
                </a:solidFill>
              </a:rPr>
              <a:t>Save </a:t>
            </a:r>
            <a:endParaRPr b="1" i="1" sz="1600"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B45F06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B45F06"/>
              </a:buClr>
              <a:buSzPts val="1600"/>
              <a:buAutoNum type="arabicPeriod"/>
            </a:pPr>
            <a:r>
              <a:rPr b="1" i="1" lang="en" sz="1600">
                <a:solidFill>
                  <a:srgbClr val="B45F06"/>
                </a:solidFill>
              </a:rPr>
              <a:t>update</a:t>
            </a:r>
            <a:r>
              <a:rPr b="1" i="1" lang="en" sz="1600">
                <a:solidFill>
                  <a:srgbClr val="B45F06"/>
                </a:solidFill>
              </a:rPr>
              <a:t>TheStatus</a:t>
            </a:r>
            <a:endParaRPr b="1" i="1" sz="1600">
              <a:solidFill>
                <a:srgbClr val="B45F0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B45F06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B45F06"/>
              </a:buClr>
              <a:buSzPts val="1600"/>
              <a:buAutoNum type="arabicPeriod"/>
            </a:pPr>
            <a:r>
              <a:rPr b="1" i="1" lang="en" sz="1600">
                <a:solidFill>
                  <a:srgbClr val="B45F06"/>
                </a:solidFill>
              </a:rPr>
              <a:t>Check </a:t>
            </a:r>
            <a:endParaRPr b="1" i="1"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B45F06"/>
              </a:solidFill>
            </a:endParaRPr>
          </a:p>
        </p:txBody>
      </p:sp>
      <p:sp>
        <p:nvSpPr>
          <p:cNvPr id="157" name="Google Shape;157;p22"/>
          <p:cNvSpPr txBox="1"/>
          <p:nvPr>
            <p:ph idx="2" type="body"/>
          </p:nvPr>
        </p:nvSpPr>
        <p:spPr>
          <a:xfrm>
            <a:off x="7027600" y="2143200"/>
            <a:ext cx="1829400" cy="27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00"/>
              <a:buAutoNum type="arabicPeriod"/>
            </a:pPr>
            <a:r>
              <a:rPr b="1" i="1" lang="en" sz="1600">
                <a:solidFill>
                  <a:srgbClr val="38761D"/>
                </a:solidFill>
              </a:rPr>
              <a:t>saveUser, user.save()</a:t>
            </a:r>
            <a:endParaRPr b="1" i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38761D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600"/>
              <a:buAutoNum type="arabicPeriod"/>
            </a:pPr>
            <a:r>
              <a:rPr b="1" i="1" lang="en" sz="1600">
                <a:solidFill>
                  <a:srgbClr val="38761D"/>
                </a:solidFill>
              </a:rPr>
              <a:t>updateOrderStatus </a:t>
            </a:r>
            <a:endParaRPr b="1" i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38761D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600"/>
              <a:buAutoNum type="arabicPeriod"/>
            </a:pPr>
            <a:r>
              <a:rPr b="1" i="1" lang="en" sz="1600">
                <a:solidFill>
                  <a:srgbClr val="38761D"/>
                </a:solidFill>
              </a:rPr>
              <a:t> isValid</a:t>
            </a:r>
            <a:endParaRPr b="1" i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1170600" y="4469525"/>
            <a:ext cx="5781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Note: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Validation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variable or function named as questions 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79794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 Ex</a:t>
            </a:r>
            <a:endParaRPr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Split into groups of 4-6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666850" y="623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</a:t>
            </a:r>
            <a:r>
              <a:rPr lang="en"/>
              <a:t> 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802800" y="1849350"/>
            <a:ext cx="7538400" cy="31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2"/>
                </a:solidFill>
              </a:rPr>
              <a:t>Avoid Comments!!</a:t>
            </a:r>
            <a:r>
              <a:rPr lang="en" sz="2700">
                <a:solidFill>
                  <a:schemeClr val="dk2"/>
                </a:solidFill>
              </a:rPr>
              <a:t> </a:t>
            </a:r>
            <a:endParaRPr sz="2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Mostly, If you need c</a:t>
            </a:r>
            <a:r>
              <a:rPr lang="en" sz="2700">
                <a:solidFill>
                  <a:schemeClr val="dk2"/>
                </a:solidFill>
              </a:rPr>
              <a:t>omments that means your code is not clean enough.</a:t>
            </a:r>
            <a:endParaRPr sz="27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45720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Comments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729450" y="2078875"/>
            <a:ext cx="7688700" cy="27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Redundant information (</a:t>
            </a:r>
            <a:r>
              <a:rPr lang="en" sz="2100">
                <a:solidFill>
                  <a:schemeClr val="dk2"/>
                </a:solidFill>
              </a:rPr>
              <a:t>consume time reading them)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Dividers  Marks (make file </a:t>
            </a:r>
            <a:r>
              <a:rPr lang="en" sz="2100">
                <a:solidFill>
                  <a:schemeClr val="dk2"/>
                </a:solidFill>
              </a:rPr>
              <a:t>unnecessary</a:t>
            </a:r>
            <a:r>
              <a:rPr lang="en" sz="2100">
                <a:solidFill>
                  <a:schemeClr val="dk2"/>
                </a:solidFill>
              </a:rPr>
              <a:t> bigger)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Commented Code (use GitHub history)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Misleading Comments (Forget to update it)</a:t>
            </a:r>
            <a:endParaRPr sz="21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r>
              <a:rPr lang="en"/>
              <a:t> Comments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729450" y="2078875"/>
            <a:ext cx="7688700" cy="27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Explain what can not be replaced by good naming 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Warnings 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Todo Notes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Legal Notes (copyrights)</a:t>
            </a:r>
            <a:endParaRPr sz="21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727650" y="661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Formatting (spacing matters)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727650" y="4459100"/>
            <a:ext cx="69519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Note: IDEs </a:t>
            </a:r>
            <a:r>
              <a:rPr lang="en" sz="1700">
                <a:latin typeface="Lato"/>
                <a:ea typeface="Lato"/>
                <a:cs typeface="Lato"/>
                <a:sym typeface="Lato"/>
              </a:rPr>
              <a:t>have helpful </a:t>
            </a:r>
            <a:r>
              <a:rPr lang="en" sz="1700">
                <a:latin typeface="Lato"/>
                <a:ea typeface="Lato"/>
                <a:cs typeface="Lato"/>
                <a:sym typeface="Lato"/>
              </a:rPr>
              <a:t>formatting tool, </a:t>
            </a:r>
            <a:r>
              <a:rPr lang="en" sz="1700">
                <a:latin typeface="Lato"/>
                <a:ea typeface="Lato"/>
                <a:cs typeface="Lato"/>
                <a:sym typeface="Lato"/>
              </a:rPr>
              <a:t>However </a:t>
            </a:r>
            <a:r>
              <a:rPr lang="en" sz="1700">
                <a:latin typeface="Lato"/>
                <a:ea typeface="Lato"/>
                <a:cs typeface="Lato"/>
                <a:sym typeface="Lato"/>
              </a:rPr>
              <a:t>make sure all your team </a:t>
            </a:r>
            <a:r>
              <a:rPr lang="en" sz="1700">
                <a:latin typeface="Lato"/>
                <a:ea typeface="Lato"/>
                <a:cs typeface="Lato"/>
                <a:sym typeface="Lato"/>
              </a:rPr>
              <a:t>members</a:t>
            </a:r>
            <a:r>
              <a:rPr lang="en" sz="1700">
                <a:latin typeface="Lato"/>
                <a:ea typeface="Lato"/>
                <a:cs typeface="Lato"/>
                <a:sym typeface="Lato"/>
              </a:rPr>
              <a:t> uses the same formatting tool 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1950" y="1037050"/>
            <a:ext cx="3496650" cy="3422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724" y="1501350"/>
            <a:ext cx="3765293" cy="29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/>
          <p:nvPr/>
        </p:nvSpPr>
        <p:spPr>
          <a:xfrm>
            <a:off x="4248600" y="2630725"/>
            <a:ext cx="6468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VS</a:t>
            </a:r>
            <a:endParaRPr sz="2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633750" y="577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202" name="Google Shape;202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0" y="0"/>
            <a:ext cx="911236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r>
              <a:rPr lang="en"/>
              <a:t> Ex</a:t>
            </a:r>
            <a:endParaRPr/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Split into groups of 4-6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</a:t>
            </a:r>
            <a:r>
              <a:rPr lang="en"/>
              <a:t>Parameters</a:t>
            </a:r>
            <a:endParaRPr/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62"/>
            <a:ext cx="9144003" cy="5121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Content </a:t>
            </a:r>
            <a:endParaRPr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729450" y="2078875"/>
            <a:ext cx="7688700" cy="27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AutoNum type="arabicPeriod"/>
            </a:pPr>
            <a:r>
              <a:rPr lang="en" sz="2100">
                <a:solidFill>
                  <a:schemeClr val="dk2"/>
                </a:solidFill>
              </a:rPr>
              <a:t>Does “</a:t>
            </a:r>
            <a:r>
              <a:rPr lang="en" sz="2100">
                <a:solidFill>
                  <a:schemeClr val="dk2"/>
                </a:solidFill>
              </a:rPr>
              <a:t>O</a:t>
            </a:r>
            <a:r>
              <a:rPr lang="en" sz="2100">
                <a:solidFill>
                  <a:schemeClr val="dk2"/>
                </a:solidFill>
              </a:rPr>
              <a:t>ne </a:t>
            </a:r>
            <a:r>
              <a:rPr lang="en" sz="2100">
                <a:solidFill>
                  <a:schemeClr val="dk2"/>
                </a:solidFill>
              </a:rPr>
              <a:t>T</a:t>
            </a:r>
            <a:r>
              <a:rPr lang="en" sz="2100">
                <a:solidFill>
                  <a:schemeClr val="dk2"/>
                </a:solidFill>
              </a:rPr>
              <a:t>hing”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AutoNum type="arabicPeriod"/>
            </a:pPr>
            <a:r>
              <a:rPr lang="en" sz="2100">
                <a:solidFill>
                  <a:schemeClr val="dk2"/>
                </a:solidFill>
              </a:rPr>
              <a:t>Be as small as possible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AutoNum type="arabicPeriod"/>
            </a:pPr>
            <a:r>
              <a:rPr lang="en" sz="2100">
                <a:solidFill>
                  <a:schemeClr val="dk2"/>
                </a:solidFill>
              </a:rPr>
              <a:t>DRY (Don’t Repeat Yourself)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AutoNum type="arabicPeriod"/>
            </a:pPr>
            <a:r>
              <a:rPr lang="en" sz="2100">
                <a:solidFill>
                  <a:schemeClr val="dk2"/>
                </a:solidFill>
              </a:rPr>
              <a:t>Does not have mixed “Levels of Abstraction”</a:t>
            </a:r>
            <a:endParaRPr sz="21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Abstraction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75" y="2374375"/>
            <a:ext cx="411997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1575" y="2374375"/>
            <a:ext cx="39877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/>
          <p:nvPr/>
        </p:nvSpPr>
        <p:spPr>
          <a:xfrm>
            <a:off x="967975" y="1927975"/>
            <a:ext cx="128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Low level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5752650" y="1890913"/>
            <a:ext cx="128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High</a:t>
            </a:r>
            <a:r>
              <a:rPr b="1" lang="en" sz="1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level</a:t>
            </a:r>
            <a:endParaRPr b="1" sz="17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Rules</a:t>
            </a:r>
            <a:endParaRPr/>
          </a:p>
        </p:txBody>
      </p:sp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727650" y="1853850"/>
            <a:ext cx="7688700" cy="27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KISS (Keep It </a:t>
            </a:r>
            <a:r>
              <a:rPr lang="en" sz="1800">
                <a:solidFill>
                  <a:schemeClr val="dk2"/>
                </a:solidFill>
              </a:rPr>
              <a:t>Simple </a:t>
            </a:r>
            <a:r>
              <a:rPr lang="en" sz="1800">
                <a:solidFill>
                  <a:schemeClr val="dk2"/>
                </a:solidFill>
              </a:rPr>
              <a:t>Stupid)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If you use your brian it is </a:t>
            </a:r>
            <a:r>
              <a:rPr lang="en" sz="1800">
                <a:solidFill>
                  <a:schemeClr val="dk2"/>
                </a:solidFill>
              </a:rPr>
              <a:t>not KISS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DRY (Don’t  Repeat Yourself)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If you made the same change &gt;1 it is not DRY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YANGI (You Aren’t Gonna Need It)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If you don’t need now remove it now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If you need it then use github history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 common sense when applying clean code rules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Rules are not a checklist must be done they are only here to make you question your code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